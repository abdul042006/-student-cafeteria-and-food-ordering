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lgerian" panose="04020705040A02060702" pitchFamily="82" charset="0"/>
      <p:regular r:id="rId14"/>
    </p:embeddedFont>
    <p:embeddedFont>
      <p:font typeface="Bodoni MT" panose="02070603080606020203" pitchFamily="18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Source Sans 3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24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1460" y="165705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Student Cafeteria and Food Ordering Management System</a:t>
            </a:r>
            <a:endParaRPr lang="en-US" sz="3700" b="1" dirty="0">
              <a:latin typeface="Bodoni MT" panose="020706030806060202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12440" y="313372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Advanced SQL Implementation using MySQL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22080" y="3607082"/>
            <a:ext cx="6296860" cy="1183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Name:- Rahim </a:t>
            </a:r>
            <a:r>
              <a:rPr lang="en-US" sz="1450" dirty="0" err="1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Auti</a:t>
            </a:r>
            <a:endParaRPr lang="en-US" sz="1450" dirty="0">
              <a:solidFill>
                <a:srgbClr val="2B4150"/>
              </a:solidFill>
              <a:latin typeface="Bodoni MT" panose="02070603080606020203" pitchFamily="18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Roll Number :- P42 |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Department :- CSE – (Data Science)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Academic Year :- 2026/27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</a:rPr>
              <a:t>Guided By:- Chinmay Mukim Sir ( DBMS)</a:t>
            </a:r>
            <a:endParaRPr lang="en-US" sz="1450" dirty="0">
              <a:latin typeface="Bodoni MT" panose="020706030806060202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CDFA71-EAB6-773A-849C-9BD2300B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558" y="6301692"/>
            <a:ext cx="1638442" cy="556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A2E21-0432-2AB9-6438-67DF8503F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79" y="1838131"/>
            <a:ext cx="5286389" cy="29529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201DA-4FD8-4C88-192A-488768220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69136" cy="845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1E2538-2D88-36A5-5AD4-6B4BC840FCC2}"/>
              </a:ext>
            </a:extLst>
          </p:cNvPr>
          <p:cNvSpPr txBox="1"/>
          <p:nvPr/>
        </p:nvSpPr>
        <p:spPr>
          <a:xfrm>
            <a:off x="1706437" y="126115"/>
            <a:ext cx="10485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G H </a:t>
            </a:r>
            <a:r>
              <a:rPr lang="en-IN" sz="2800" dirty="0" err="1">
                <a:latin typeface="Algerian" panose="04020705040A02060702" pitchFamily="82" charset="0"/>
              </a:rPr>
              <a:t>Raisoni</a:t>
            </a:r>
            <a:r>
              <a:rPr lang="en-IN" sz="2800" dirty="0">
                <a:latin typeface="Algerian" panose="04020705040A02060702" pitchFamily="82" charset="0"/>
              </a:rPr>
              <a:t> College of Engineering &amp; Management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823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Project Introduction</a:t>
            </a:r>
            <a:endParaRPr lang="en-US" sz="2550" b="1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4" y="886442"/>
            <a:ext cx="1086874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This system manages the complete flow of cafeteria food ordering — from student registration to order placement, payment, and delivery. MySQL handles all relational data, and advanced SQL features support reporting, automation, and performance tuning.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07939"/>
            <a:ext cx="649668" cy="7796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0438" y="1737816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Student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87600"/>
            <a:ext cx="649668" cy="7796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0438" y="2517477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Cafeteria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67261"/>
            <a:ext cx="649668" cy="7796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00438" y="3297138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Food Item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46922"/>
            <a:ext cx="649668" cy="7796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00438" y="4076799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Order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726583"/>
            <a:ext cx="649668" cy="77966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00438" y="4856460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Payment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5506244"/>
            <a:ext cx="649668" cy="77966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400438" y="5636121"/>
            <a:ext cx="101297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Delivery</a:t>
            </a:r>
            <a:endParaRPr lang="en-US" sz="1250" dirty="0">
              <a:latin typeface="Bodoni MT" panose="02070603080606020203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D8B1C0-F6AB-A787-A0D5-ECAA58197D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3558" y="6285905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Database Design</a:t>
            </a:r>
            <a:endParaRPr lang="en-US" sz="2800" b="1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5430" y="1184989"/>
            <a:ext cx="5407820" cy="64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The system uses </a:t>
            </a:r>
            <a:r>
              <a:rPr lang="en-US" sz="1400" b="1" dirty="0">
                <a:solidFill>
                  <a:srgbClr val="2B4150"/>
                </a:solidFill>
                <a:latin typeface="Bodoni MT" panose="02070603080606020203" pitchFamily="18" charset="0"/>
                <a:ea typeface="Source Sans 3 Bold" pitchFamily="34" charset="-122"/>
                <a:cs typeface="Source Sans 3 Bold" pitchFamily="34" charset="-120"/>
              </a:rPr>
              <a:t>7 relational tables</a:t>
            </a: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connected through primary and foreign keys. Referential integrity ensures data consistency across all entities.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1584" y="2101044"/>
            <a:ext cx="5315512" cy="1011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Bodoni MT" panose="02070603080606020203" pitchFamily="18" charset="0"/>
                <a:ea typeface="Source Sans 3 Bold" pitchFamily="34" charset="-122"/>
                <a:cs typeface="Source Sans 3 Bold" pitchFamily="34" charset="-120"/>
              </a:rPr>
              <a:t>Primary Keys</a:t>
            </a: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— uniquely identify each record</a:t>
            </a:r>
            <a:endParaRPr lang="en-US" sz="1600" dirty="0">
              <a:latin typeface="Bodoni MT" panose="02070603080606020203" pitchFamily="18" charset="0"/>
            </a:endParaRPr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Bodoni MT" panose="02070603080606020203" pitchFamily="18" charset="0"/>
                <a:ea typeface="Source Sans 3 Bold" pitchFamily="34" charset="-122"/>
                <a:cs typeface="Source Sans 3 Bold" pitchFamily="34" charset="-120"/>
              </a:rPr>
              <a:t>Foreign Keys</a:t>
            </a: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— enforce relationships between tables</a:t>
            </a:r>
            <a:endParaRPr lang="en-US" sz="1600" dirty="0">
              <a:latin typeface="Bodoni MT" panose="02070603080606020203" pitchFamily="18" charset="0"/>
            </a:endParaRPr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Bodoni MT" panose="02070603080606020203" pitchFamily="18" charset="0"/>
                <a:ea typeface="Source Sans 3 Bold" pitchFamily="34" charset="-122"/>
                <a:cs typeface="Source Sans 3 Bold" pitchFamily="34" charset="-120"/>
              </a:rPr>
              <a:t>Referential Integrity</a:t>
            </a: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— prevents orphaned records</a:t>
            </a:r>
            <a:endParaRPr lang="en-US" sz="1600" dirty="0">
              <a:latin typeface="Bodoni MT" panose="02070603080606020203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B269A-D77C-C403-FF4C-E7F94D766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558" y="6301692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6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Table Structure</a:t>
            </a:r>
            <a:endParaRPr lang="en-US" sz="3700" b="1" dirty="0">
              <a:latin typeface="Bodoni MT" panose="02070603080606020203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50305"/>
          <a:ext cx="10868746" cy="4513152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Table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Attributes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StudentID, Name, Email, Phone, Department, Year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Cafeteria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CafeteriaID, CafeteriaName, Location, Phone, Status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FoodItem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FoodID, CafeteriaID, FoodName, Category, Price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OrderID, StudentID, CafeteriaID, TotalAmount, OrderStatus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OrderItem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OrderItemID, OrderID, FoodID, Quantity, Price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PaymentID, OrderID, Amount, PaymentMethod, PaymentStatus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Delivery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DeliveryID, OrderID, DeliveryAddress, DeliveryStatus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FD90D1A-8707-5537-0A8C-A44AA187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558" y="6301692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Advanced SQL Queries</a:t>
            </a:r>
            <a:endParaRPr lang="en-US" sz="335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5702"/>
            <a:ext cx="2535075" cy="23771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7970" y="1676003"/>
            <a:ext cx="2078283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INNER / LEFT / OUTER JOIN</a:t>
            </a:r>
            <a:endParaRPr lang="en-US" sz="165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27970" y="2366367"/>
            <a:ext cx="2078283" cy="1306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Combine student, order, cafeteria, and food data; retrieve unmatched rows when related records are missing.</a:t>
            </a:r>
            <a:endParaRPr lang="en-US" sz="1300" dirty="0">
              <a:latin typeface="Bodoni MT" panose="020706030806060202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1724" y="1485702"/>
            <a:ext cx="2535174" cy="23771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18219" y="1676003"/>
            <a:ext cx="207838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SELF JOIN</a:t>
            </a:r>
            <a:endParaRPr lang="en-US" sz="1650" dirty="0">
              <a:latin typeface="Bodoni MT" panose="020706030806060202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18219" y="2098774"/>
            <a:ext cx="2078382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Compare records within the same table — e.g., find students from the same department.</a:t>
            </a:r>
            <a:endParaRPr lang="en-US" sz="1300" dirty="0">
              <a:latin typeface="Bodoni MT" panose="020706030806060202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18062"/>
            <a:ext cx="2535075" cy="21222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7970" y="4208363"/>
            <a:ext cx="2078283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Correlated Subquery &amp; EXISTS</a:t>
            </a:r>
            <a:endParaRPr lang="en-US" sz="1650" dirty="0">
              <a:latin typeface="Bodoni MT" panose="020706030806060202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27970" y="4898727"/>
            <a:ext cx="207828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Row-level comparisons and existence checks across related tables.</a:t>
            </a:r>
            <a:endParaRPr lang="en-US" sz="1300" dirty="0">
              <a:latin typeface="Bodoni MT" panose="020706030806060202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724" y="4018062"/>
            <a:ext cx="2535174" cy="21222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18219" y="4208363"/>
            <a:ext cx="2078382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Aggregate Functions + GROUP BY / HAVING</a:t>
            </a:r>
            <a:endParaRPr lang="en-US" sz="1650" dirty="0">
              <a:latin typeface="Bodoni MT" panose="020706030806060202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618219" y="5166320"/>
            <a:ext cx="2078382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COUNT, SUM, AVG, MIN, MAX for grouped business reports.</a:t>
            </a:r>
            <a:endParaRPr lang="en-US" sz="1300" dirty="0">
              <a:latin typeface="Bodoni MT" panose="02070603080606020203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6311147" y="1485702"/>
            <a:ext cx="5225423" cy="3632200"/>
          </a:xfrm>
          <a:prstGeom prst="roundRect">
            <a:avLst>
              <a:gd name="adj" fmla="val 707"/>
            </a:avLst>
          </a:prstGeom>
          <a:solidFill>
            <a:srgbClr val="F2EFE8"/>
          </a:solidFill>
          <a:ln/>
        </p:spPr>
      </p:sp>
      <p:sp>
        <p:nvSpPr>
          <p:cNvPr id="16" name="Text 10"/>
          <p:cNvSpPr/>
          <p:nvPr/>
        </p:nvSpPr>
        <p:spPr>
          <a:xfrm>
            <a:off x="6516624" y="1656953"/>
            <a:ext cx="4814469" cy="328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-- INNER JOIN: Student orders with cafeteria info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SELECT s.Name, c.CafeteriaName, o.TotalAmount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FROM Student s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JOIN Orders o ON s.StudentID = o.StudentID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JOIN Cafeteria c ON o.CafeteriaID = c.CafeteriaID;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-- Correlated subquery with EXISTS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SELECT Name FROM Student s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 SELECT 1 FROM Orders o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 WHERE o.StudentID = s.StudentID</a:t>
            </a:r>
            <a:endParaRPr lang="en-US" sz="1300" dirty="0">
              <a:latin typeface="Bodoni MT" panose="020706030806060202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>
              <a:latin typeface="Bodoni MT" panose="02070603080606020203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789603-4C72-B32B-2566-0689EB6E5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848" y="6301692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291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Stored Procedure, Trigger and Audit</a:t>
            </a:r>
            <a:endParaRPr lang="en-US" sz="265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167011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116743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Audit Record</a:t>
            </a:r>
            <a:endParaRPr lang="en-US" sz="190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41783" y="4116743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Trigger Fires</a:t>
            </a:r>
            <a:endParaRPr lang="en-US" sz="190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52827" y="3963898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DB Operation</a:t>
            </a:r>
            <a:endParaRPr lang="en-US" sz="1900" dirty="0">
              <a:latin typeface="Bodoni MT" panose="020706030806060202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20397" y="4116743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User Action</a:t>
            </a:r>
            <a:endParaRPr lang="en-US" sz="1900" dirty="0">
              <a:latin typeface="Bodoni MT" panose="020706030806060202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1475" y="4979100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The diagram above shows the automation sequence — from a user-initiated action through trigger execution to audit logging.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1475" y="5555044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Stored Procedure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1475" y="5849342"/>
            <a:ext cx="526868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 parameterized procedure handles order creation in a controlled manner, accepting order details and executing all required database operations.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7889" y="5539383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Trigger &amp; Audit Table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67889" y="5849342"/>
            <a:ext cx="526868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Triggers fire automatically on INSERT, UPDATE, or DELETE events. Changes are logged in an audit table for tracking and compliance.</a:t>
            </a:r>
            <a:endParaRPr lang="en-US" sz="1200" dirty="0">
              <a:latin typeface="Bodoni MT" panose="020706030806060202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F1E82F-A280-1CBF-F5BD-EC47804D7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558" y="6297027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Views and Business Reporting</a:t>
            </a:r>
            <a:endParaRPr lang="en-US" sz="280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6122"/>
            <a:ext cx="5180525" cy="5180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47" y="1185708"/>
            <a:ext cx="5315512" cy="30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Order Business Report</a:t>
            </a:r>
            <a:endParaRPr lang="en-US" sz="1600" b="1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21058" y="1550274"/>
            <a:ext cx="5925096" cy="711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Combines student, cafeteria, order, payment, and delivery data into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 single queryable view for complete order tracking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95847" y="2172529"/>
            <a:ext cx="5315512" cy="34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Student Business Report</a:t>
            </a:r>
            <a:endParaRPr lang="en-US" sz="1600" b="1" dirty="0">
              <a:latin typeface="Bodoni MT" panose="020706030806060202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1058" y="2516749"/>
            <a:ext cx="5925096" cy="344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Summarizes each student's orders, total spending, order status,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and associated cafeteria information.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95847" y="310779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Additional Reports</a:t>
            </a:r>
            <a:endParaRPr lang="en-US" sz="1600" b="1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15015" y="3429000"/>
            <a:ext cx="5925096" cy="911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Food item sales summaries and aggregate reports using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>
                <a:solidFill>
                  <a:srgbClr val="2B4150"/>
                </a:solidFill>
                <a:highlight>
                  <a:srgbClr val="F2EFE8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600" dirty="0">
                <a:solidFill>
                  <a:srgbClr val="2B4150"/>
                </a:solidFill>
                <a:highlight>
                  <a:srgbClr val="F2EFE8"/>
                </a:highlight>
                <a:latin typeface="Bodoni MT" panose="02070603080606020203" pitchFamily="18" charset="0"/>
                <a:ea typeface="Consolas" pitchFamily="34" charset="-122"/>
                <a:cs typeface="Consolas" pitchFamily="34" charset="-120"/>
              </a:rPr>
              <a:t>HAVING</a:t>
            </a:r>
            <a:r>
              <a:rPr lang="en-US" sz="16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 for category-wise analysis.</a:t>
            </a:r>
            <a:endParaRPr lang="en-US" sz="1600" dirty="0">
              <a:latin typeface="Bodoni MT" panose="020706030806060202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40396F-EE08-7C57-60F7-FAD32D58F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712" y="6276777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805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Performance Tuning &amp; Indexing</a:t>
            </a:r>
            <a:endParaRPr lang="en-US" sz="2400" b="1" dirty="0">
              <a:latin typeface="Bodoni MT" panose="020706030806060202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53195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485181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EXPLAIN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255023" y="4862723"/>
            <a:ext cx="1613822" cy="35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Analyze the query execution plan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98903" y="4191247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After Indexing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98903" y="4862723"/>
            <a:ext cx="1613822" cy="35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Re-run query and inspect plan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88227" y="1376826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Before Indexing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88227" y="2048303"/>
            <a:ext cx="1613822" cy="35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Run query and observe slowness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404137" y="1376826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Compare Performance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404137" y="2048303"/>
            <a:ext cx="1613822" cy="35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Measure execution time difference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52682" y="1376826"/>
            <a:ext cx="1613822" cy="88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Create Composite Index</a:t>
            </a:r>
            <a:endParaRPr lang="en-US" sz="1850" dirty="0">
              <a:latin typeface="Bodoni MT" panose="020706030806060202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52682" y="2342237"/>
            <a:ext cx="1613822" cy="35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Index frequent join and filter columns</a:t>
            </a:r>
            <a:endParaRPr lang="en-US" sz="1450" dirty="0">
              <a:latin typeface="Bodoni MT" panose="020706030806060202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1475" y="5613202"/>
            <a:ext cx="114783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Each step in the workflow above shows how query performance is analyzed and improved through indexing.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61475" y="5944096"/>
            <a:ext cx="531194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EXPLAIN &amp; EXPLAIN ANALYZE</a:t>
            </a:r>
            <a:endParaRPr lang="en-US" sz="950" b="1" dirty="0">
              <a:latin typeface="Bodoni MT" panose="020706030806060202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1475" y="6154240"/>
            <a:ext cx="5921525" cy="331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Used to inspect the query execution plan and measure actual runtime behavior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before and after optimization.</a:t>
            </a:r>
            <a:endParaRPr lang="en-US" sz="900" dirty="0">
              <a:latin typeface="Bodoni MT" panose="020706030806060202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24630" y="5944096"/>
            <a:ext cx="531194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COMPOSITE INDEXES</a:t>
            </a:r>
            <a:endParaRPr lang="en-US" sz="950" b="1" dirty="0">
              <a:latin typeface="Bodoni MT" panose="020706030806060202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24630" y="6154241"/>
            <a:ext cx="5921525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Created on frequently joined and filtered column combinations. Index metadata is verified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using MySQL system commands.</a:t>
            </a:r>
            <a:endParaRPr lang="en-US" sz="900" dirty="0">
              <a:latin typeface="Bodoni MT" panose="02070603080606020203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14C5DE-3F79-376B-85E9-2689BF333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003" y="6424314"/>
            <a:ext cx="1638442" cy="433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87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System Workflow and Output</a:t>
            </a:r>
            <a:endParaRPr lang="en-US" sz="3500" b="1" dirty="0">
              <a:latin typeface="Bodoni MT" panose="020706030806060202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53233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81302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5381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Student exists in database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41605" y="153233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1605" y="181302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8" name="Text 6"/>
          <p:cNvSpPr/>
          <p:nvPr/>
        </p:nvSpPr>
        <p:spPr>
          <a:xfrm>
            <a:off x="4341605" y="195381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Selects cafeteria and food items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21734" y="153233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21734" y="181302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1" name="Text 9"/>
          <p:cNvSpPr/>
          <p:nvPr/>
        </p:nvSpPr>
        <p:spPr>
          <a:xfrm>
            <a:off x="8021734" y="195381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Order is created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1475" y="254198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475" y="282267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96346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Order items stored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41605" y="254198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05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1605" y="282267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4341605" y="296346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Payment recorded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21734" y="254198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06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21734" y="2822674"/>
            <a:ext cx="3508486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0" name="Text 18"/>
          <p:cNvSpPr/>
          <p:nvPr/>
        </p:nvSpPr>
        <p:spPr>
          <a:xfrm>
            <a:off x="8021734" y="2963466"/>
            <a:ext cx="350848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Delivery information recorded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475" y="3551634"/>
            <a:ext cx="360254" cy="2251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Light" pitchFamily="34" charset="-122"/>
                <a:cs typeface="MuseoModerno Light" pitchFamily="34" charset="-120"/>
              </a:rPr>
              <a:t>07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1475" y="3832324"/>
            <a:ext cx="10868745" cy="2540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065487"/>
            <a:ext cx="108687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Reports generated via SQL queries</a:t>
            </a:r>
            <a:endParaRPr lang="en-US" sz="1750" dirty="0">
              <a:latin typeface="Bodoni MT" panose="020706030806060202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2595" y="4764206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Key Capabilities</a:t>
            </a:r>
            <a:endParaRPr lang="en-US" sz="1750" b="1" dirty="0">
              <a:latin typeface="Bodoni MT" panose="020706030806060202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1475" y="5207595"/>
            <a:ext cx="5214609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Relational data management across 7 tables</a:t>
            </a:r>
            <a:endParaRPr lang="en-US" sz="1400" dirty="0">
              <a:latin typeface="Bodoni MT" panose="02070603080606020203" pitchFamily="18" charset="0"/>
            </a:endParaRPr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Order, payment, and delivery tracking</a:t>
            </a:r>
            <a:endParaRPr lang="en-US" sz="1400" dirty="0">
              <a:latin typeface="Bodoni MT" panose="02070603080606020203" pitchFamily="18" charset="0"/>
            </a:endParaRPr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SQL-based business reporting and analysis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21961" y="4754463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Sample Report Output</a:t>
            </a:r>
            <a:endParaRPr lang="en-US" sz="1750" b="1" dirty="0">
              <a:latin typeface="Bodoni MT" panose="020706030806060202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21961" y="5207595"/>
            <a:ext cx="521460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Query results show student orders with cafeteria details, payment status, and delivery information — all retrieved through JOIN-based views.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17DFB5-72C2-BFA2-C0E0-7B5C7780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078" y="6232128"/>
            <a:ext cx="163844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3974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Conclusion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61474" y="1142405"/>
            <a:ext cx="6613085" cy="786209"/>
          </a:xfrm>
          <a:prstGeom prst="roundRect">
            <a:avLst>
              <a:gd name="adj" fmla="val 2761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806132" y="1287066"/>
            <a:ext cx="60075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Relational Design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6132" y="1579563"/>
            <a:ext cx="600754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Seven well-structured tables with primary keys, foreign keys, and referential integrity.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1475" y="2039342"/>
            <a:ext cx="6613084" cy="786209"/>
          </a:xfrm>
          <a:prstGeom prst="roundRect">
            <a:avLst>
              <a:gd name="adj" fmla="val 2761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806132" y="2184003"/>
            <a:ext cx="60075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Advanced SQL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6132" y="2476500"/>
            <a:ext cx="600754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Joins, subqueries, aggregates, GROUP BY, and HAVING for complex data retrieval.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1474" y="2936280"/>
            <a:ext cx="6613083" cy="786209"/>
          </a:xfrm>
          <a:prstGeom prst="roundRect">
            <a:avLst>
              <a:gd name="adj" fmla="val 2761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806132" y="3080941"/>
            <a:ext cx="60075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Automation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6132" y="3373438"/>
            <a:ext cx="600754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Stored procedures and triggers handle order processing and audit logging.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1475" y="3833217"/>
            <a:ext cx="6613082" cy="786209"/>
          </a:xfrm>
          <a:prstGeom prst="roundRect">
            <a:avLst>
              <a:gd name="adj" fmla="val 2761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806132" y="3977878"/>
            <a:ext cx="60075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Reporting &amp; Performance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6132" y="4270375"/>
            <a:ext cx="600754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Virtual views simplify reporting; EXPLAIN and composite indexes optimize queries.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61474" y="4744045"/>
            <a:ext cx="6613081" cy="691455"/>
          </a:xfrm>
          <a:prstGeom prst="roundRect">
            <a:avLst>
              <a:gd name="adj" fmla="val 3139"/>
            </a:avLst>
          </a:prstGeom>
          <a:solidFill>
            <a:srgbClr val="DBE8F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32" y="4903986"/>
            <a:ext cx="180871" cy="1446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31661" y="4890889"/>
            <a:ext cx="568201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odoni MT" panose="02070603080606020203" pitchFamily="18" charset="0"/>
                <a:ea typeface="Source Sans 3" pitchFamily="34" charset="-122"/>
                <a:cs typeface="Source Sans 3" pitchFamily="34" charset="-120"/>
              </a:rPr>
              <a:t>This project provides practical, hands-on experience with MySQL and advanced SQL in a real-world database scenario.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61475" y="5601692"/>
            <a:ext cx="6296860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 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61475" y="6129636"/>
            <a:ext cx="690644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14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9D200-20B5-CA4D-380D-0EAC08AEBF80}"/>
              </a:ext>
            </a:extLst>
          </p:cNvPr>
          <p:cNvSpPr txBox="1"/>
          <p:nvPr/>
        </p:nvSpPr>
        <p:spPr>
          <a:xfrm>
            <a:off x="3048000" y="3273477"/>
            <a:ext cx="6096000" cy="121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dirty="0">
                <a:solidFill>
                  <a:srgbClr val="124E73"/>
                </a:solidFill>
                <a:latin typeface="Bodoni MT" panose="02070603080606020203" pitchFamily="18" charset="0"/>
                <a:ea typeface="MuseoModerno Medium" pitchFamily="34" charset="-122"/>
                <a:cs typeface="MuseoModerno Medium" pitchFamily="34" charset="-120"/>
              </a:rPr>
              <a:t>Thank You</a:t>
            </a:r>
            <a:endParaRPr lang="en-US" sz="7200" dirty="0">
              <a:latin typeface="Bodoni MT" panose="020706030806060202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DD81D-D907-9142-65C7-43E5529DA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630" y="6219824"/>
            <a:ext cx="2423370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1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801</Words>
  <Application>Microsoft Office PowerPoint</Application>
  <PresentationFormat>Widescreen</PresentationFormat>
  <Paragraphs>141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Consolas</vt:lpstr>
      <vt:lpstr>Source Sans 3</vt:lpstr>
      <vt:lpstr>Bodoni MT</vt:lpstr>
      <vt:lpstr>Arial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naushad pathan</cp:lastModifiedBy>
  <cp:revision>2</cp:revision>
  <dcterms:created xsi:type="dcterms:W3CDTF">2026-09-30T18:42:52Z</dcterms:created>
  <dcterms:modified xsi:type="dcterms:W3CDTF">2026-09-30T19:05:36Z</dcterms:modified>
</cp:coreProperties>
</file>